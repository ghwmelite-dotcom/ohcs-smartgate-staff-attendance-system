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kente-strip-themat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100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0000" y="600000"/>
            <a:ext cx="1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8B6B22"/>
                </a:solidFill>
                <a:latin typeface="DM Sans"/>
              </a:rP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000" y="2200000"/>
            <a:ext cx="1050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>
                <a:solidFill>
                  <a:srgbClr val="0E1411"/>
                </a:solidFill>
                <a:latin typeface="Playfair Display"/>
              </a:rPr>
              <a:t>Reception Workflow</a:t>
            </a:r>
          </a:p>
        </p:txBody>
      </p:sp>
      <p:pic>
        <p:nvPicPr>
          <p:cNvPr id="5" name="Picture 4" descr="gold-deco-hair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6000" y="3900000"/>
            <a:ext cx="400000" cy="20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00000" y="4100000"/>
            <a:ext cx="105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1A1714"/>
                </a:solidFill>
                <a:latin typeface="DM Sans"/>
              </a:rPr>
              <a:t>From paper logbook to printable badge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620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6B22"/>
                </a:solidFill>
                <a:latin typeface="DM Sans"/>
              </a:rPr>
              <a:t>For: Executive Leadership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0" y="620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D8CFBE"/>
                </a:solidFill>
                <a:latin typeface="DM Sans"/>
              </a:rPr>
              <a:t>v0 · 2026-05-28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1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kente-texture-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00000" y="2800000"/>
            <a:ext cx="8900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>
                <a:solidFill>
                  <a:srgbClr val="F6F1E7"/>
                </a:solidFill>
                <a:latin typeface="Playfair Display"/>
              </a:rPr>
              <a:t>Reception's job didn't change. The workflow finally caught up.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0000" y="800000"/>
            <a:ext cx="100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0E1411"/>
                </a:solidFill>
                <a:latin typeface="Playfair Display"/>
              </a:rPr>
              <a:t>What you'll see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00000" y="650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D8CFBE"/>
                </a:solidFill>
                <a:latin typeface="DM Sans"/>
              </a:rPr>
              <a:t>09 · Reception Workflow · 03/15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00000" y="2200000"/>
            <a:ext cx="970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E1411"/>
                </a:solidFill>
                <a:latin typeface="Playfair Display"/>
              </a:rPr>
              <a:t>Before — a book, a pen, a queue.</a:t>
            </a:r>
          </a:p>
        </p:txBody>
      </p:sp>
      <p:pic>
        <p:nvPicPr>
          <p:cNvPr id="3" name="Picture 2" descr="gold-deco-hair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6000" y="3800000"/>
            <a:ext cx="400000" cy="2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00000" y="4100000"/>
            <a:ext cx="91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A1714"/>
                </a:solidFill>
                <a:latin typeface="DM Sans"/>
              </a:rPr>
              <a:t>Visitor signs in. Receptionist transcribes. Host gets a phone call. Sometimes.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0" y="650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D8CFBE"/>
                </a:solidFill>
                <a:latin typeface="DM Sans"/>
              </a:rPr>
              <a:t>09 · Reception Workflow · 04/15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00000" y="2200000"/>
            <a:ext cx="970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E1411"/>
                </a:solidFill>
                <a:latin typeface="Playfair Display"/>
              </a:rPr>
              <a:t>After — a screen, a search, a tap.</a:t>
            </a:r>
          </a:p>
        </p:txBody>
      </p:sp>
      <p:pic>
        <p:nvPicPr>
          <p:cNvPr id="3" name="Picture 2" descr="gold-deco-hair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6000" y="3800000"/>
            <a:ext cx="400000" cy="2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00000" y="4100000"/>
            <a:ext cx="91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A1714"/>
                </a:solidFill>
                <a:latin typeface="DM Sans"/>
              </a:rPr>
              <a:t>Visitor named. Host selected. Purpose tagged. Badge printed. Host alerted.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0" y="650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D8CFBE"/>
                </a:solidFill>
                <a:latin typeface="DM Sans"/>
              </a:rPr>
              <a:t>09 · Reception Workflow · 05/15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0000" y="500000"/>
            <a:ext cx="105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E1411"/>
                </a:solidFill>
                <a:latin typeface="DM Sans"/>
              </a:rPr>
              <a:t>The new check-in flow, step one</a:t>
            </a:r>
          </a:p>
        </p:txBody>
      </p:sp>
      <p:sp>
        <p:nvSpPr>
          <p:cNvPr id="3" name="Rectangle 2"/>
          <p:cNvSpPr/>
          <p:nvPr/>
        </p:nvSpPr>
        <p:spPr>
          <a:xfrm>
            <a:off x="800000" y="1500000"/>
            <a:ext cx="5800000" cy="4500000"/>
          </a:xfrm>
          <a:prstGeom prst="rect">
            <a:avLst/>
          </a:prstGeom>
          <a:solidFill>
            <a:srgbClr val="FBF7EF"/>
          </a:solidFill>
          <a:ln>
            <a:solidFill>
              <a:srgbClr val="D8C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8B6B22"/>
                </a:solidFill>
                <a:latin typeface="DM Sans"/>
              </a:rPr>
              <a:t>[REPLACE: S01-checkin-form-blank.png]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00000" y="1500000"/>
            <a:ext cx="42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714"/>
                </a:solidFill>
                <a:latin typeface="DM Sans"/>
              </a:rPr>
              <a:t>①  Existing visitor? Search.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00000" y="2800000"/>
            <a:ext cx="42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714"/>
                </a:solidFill>
                <a:latin typeface="DM Sans"/>
              </a:rPr>
              <a:t>②  New visitor? Three fields.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00000" y="4100000"/>
            <a:ext cx="42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714"/>
                </a:solidFill>
                <a:latin typeface="DM Sans"/>
              </a:rPr>
              <a:t>③  Type-ahead host selection by directorate.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6100000"/>
            <a:ext cx="10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6B22"/>
                </a:solidFill>
                <a:latin typeface="DM Sans"/>
              </a:rPr>
              <a:t>ohcs-smartgate.pages.dev — reception view.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0" y="650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D8CFBE"/>
                </a:solidFill>
                <a:latin typeface="DM Sans"/>
              </a:rPr>
              <a:t>09 · Reception Workflow · 06/15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0000" y="500000"/>
            <a:ext cx="105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E1411"/>
                </a:solidFill>
                <a:latin typeface="DM Sans"/>
              </a:rPr>
              <a:t>The new check-in flow, step two</a:t>
            </a:r>
          </a:p>
        </p:txBody>
      </p:sp>
      <p:sp>
        <p:nvSpPr>
          <p:cNvPr id="3" name="Rectangle 2"/>
          <p:cNvSpPr/>
          <p:nvPr/>
        </p:nvSpPr>
        <p:spPr>
          <a:xfrm>
            <a:off x="800000" y="1500000"/>
            <a:ext cx="5800000" cy="4500000"/>
          </a:xfrm>
          <a:prstGeom prst="rect">
            <a:avLst/>
          </a:prstGeom>
          <a:solidFill>
            <a:srgbClr val="FBF7EF"/>
          </a:solidFill>
          <a:ln>
            <a:solidFill>
              <a:srgbClr val="D8C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8B6B22"/>
                </a:solidFill>
                <a:latin typeface="DM Sans"/>
              </a:rPr>
              <a:t>[REPLACE: S02-checkin-form-midfill.png]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00000" y="1500000"/>
            <a:ext cx="42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714"/>
                </a:solidFill>
                <a:latin typeface="DM Sans"/>
              </a:rPr>
              <a:t>①  Host's directorate auto-fills.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00000" y="2800000"/>
            <a:ext cx="42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714"/>
                </a:solidFill>
                <a:latin typeface="DM Sans"/>
              </a:rPr>
              <a:t>②  Purpose is curated, not free-text.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00000" y="4100000"/>
            <a:ext cx="42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714"/>
                </a:solidFill>
                <a:latin typeface="DM Sans"/>
              </a:rPr>
              <a:t>③  Submit is one tap.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6100000"/>
            <a:ext cx="10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6B22"/>
                </a:solidFill>
                <a:latin typeface="DM Sans"/>
              </a:rPr>
              <a:t>Same screen, mid-fill.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0" y="650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D8CFBE"/>
                </a:solidFill>
                <a:latin typeface="DM Sans"/>
              </a:rPr>
              <a:t>09 · Reception Workflow · 07/15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0000" y="500000"/>
            <a:ext cx="105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E1411"/>
                </a:solidFill>
                <a:latin typeface="DM Sans"/>
              </a:rPr>
              <a:t>The badge appears, the alert fires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800000" y="1500000"/>
            <a:ext cx="5800000" cy="4500000"/>
          </a:xfrm>
          <a:prstGeom prst="rect">
            <a:avLst/>
          </a:prstGeom>
          <a:solidFill>
            <a:srgbClr val="FBF7EF"/>
          </a:solidFill>
          <a:ln>
            <a:solidFill>
              <a:srgbClr val="D8C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8B6B22"/>
                </a:solidFill>
                <a:latin typeface="DM Sans"/>
              </a:rPr>
              <a:t>[REPLACE: S03-visitor-badge.png]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00000" y="1500000"/>
            <a:ext cx="42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714"/>
                </a:solidFill>
                <a:latin typeface="DM Sans"/>
              </a:rPr>
              <a:t>①  QR-coded, time-stamped, host-named.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00000" y="2800000"/>
            <a:ext cx="42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714"/>
                </a:solidFill>
                <a:latin typeface="DM Sans"/>
              </a:rPr>
              <a:t>②  Host knows before the visitor sits down.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00000" y="4100000"/>
            <a:ext cx="42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714"/>
                </a:solidFill>
                <a:latin typeface="DM Sans"/>
              </a:rPr>
              <a:t>③  Director cc'd automatically.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6100000"/>
            <a:ext cx="10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6B22"/>
                </a:solidFill>
                <a:latin typeface="DM Sans"/>
              </a:rPr>
              <a:t>Badge view, post-submit.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0" y="650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D8CFBE"/>
                </a:solidFill>
                <a:latin typeface="DM Sans"/>
              </a:rPr>
              <a:t>09 · Reception Workflow · 08/15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1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kente-texture-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0000" y="1500000"/>
            <a:ext cx="10500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0" b="1">
                <a:solidFill>
                  <a:srgbClr val="C9A14A"/>
                </a:solidFill>
                <a:latin typeface="Playfair Display"/>
              </a:rPr>
              <a:t>&lt;N01&gt;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000" y="5300000"/>
            <a:ext cx="105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F6F1E7"/>
                </a:solidFill>
                <a:latin typeface="DM Sans"/>
              </a:rPr>
              <a:t>Visitors checked in since launch. Each one accounted for.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0" y="650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D8CFBE"/>
                </a:solidFill>
                <a:latin typeface="DM Sans"/>
              </a:rPr>
              <a:t>09 · Reception Workflow · 09/15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00000" y="2200000"/>
            <a:ext cx="970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E1411"/>
                </a:solidFill>
                <a:latin typeface="Playfair Display"/>
              </a:rPr>
              <a:t>A reception lead, on what changed.</a:t>
            </a:r>
          </a:p>
        </p:txBody>
      </p:sp>
      <p:pic>
        <p:nvPicPr>
          <p:cNvPr id="3" name="Picture 2" descr="gold-deco-hair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6000" y="3800000"/>
            <a:ext cx="400000" cy="2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00000" y="4100000"/>
            <a:ext cx="91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A1714"/>
                </a:solidFill>
                <a:latin typeface="DM Sans"/>
              </a:rPr>
              <a:t>"&lt;Q03&gt;"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0" y="650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D8CFBE"/>
                </a:solidFill>
                <a:latin typeface="DM Sans"/>
              </a:rPr>
              <a:t>09 · Reception Workflow · 10/15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00000" y="2200000"/>
            <a:ext cx="970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E1411"/>
                </a:solidFill>
                <a:latin typeface="Playfair Display"/>
              </a:rPr>
              <a:t>When the Wi-Fi drops, reception doesn't stop.</a:t>
            </a:r>
          </a:p>
        </p:txBody>
      </p:sp>
      <p:pic>
        <p:nvPicPr>
          <p:cNvPr id="3" name="Picture 2" descr="gold-deco-hair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6000" y="3800000"/>
            <a:ext cx="400000" cy="2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00000" y="4100000"/>
            <a:ext cx="91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A1714"/>
                </a:solidFill>
                <a:latin typeface="DM Sans"/>
              </a:rPr>
              <a:t>Queued check-ins replay on reconnect. No "please wait" screens. No lost arrivals.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0" y="650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D8CFBE"/>
                </a:solidFill>
                <a:latin typeface="DM Sans"/>
              </a:rPr>
              <a:t>09 · Reception Workflow · 11/15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0000" y="500000"/>
            <a:ext cx="105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E1411"/>
                </a:solidFill>
                <a:latin typeface="DM Sans"/>
              </a:rPr>
              <a:t>Reception kept working through a 12-minute outage</a:t>
            </a:r>
          </a:p>
        </p:txBody>
      </p:sp>
      <p:sp>
        <p:nvSpPr>
          <p:cNvPr id="3" name="Rectangle 2"/>
          <p:cNvSpPr/>
          <p:nvPr/>
        </p:nvSpPr>
        <p:spPr>
          <a:xfrm>
            <a:off x="800000" y="1500000"/>
            <a:ext cx="5800000" cy="4500000"/>
          </a:xfrm>
          <a:prstGeom prst="rect">
            <a:avLst/>
          </a:prstGeom>
          <a:solidFill>
            <a:srgbClr val="FBF7EF"/>
          </a:solidFill>
          <a:ln>
            <a:solidFill>
              <a:srgbClr val="D8C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8B6B22"/>
                </a:solidFill>
                <a:latin typeface="DM Sans"/>
              </a:rPr>
              <a:t>[REPLACE: S21-offline-banner.png]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00000" y="1500000"/>
            <a:ext cx="42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714"/>
                </a:solidFill>
                <a:latin typeface="DM Sans"/>
              </a:rPr>
              <a:t>①  Banner went up. Reception kept checking 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00000" y="2800000"/>
            <a:ext cx="42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714"/>
                </a:solidFill>
                <a:latin typeface="DM Sans"/>
              </a:rPr>
              <a:t>②  Queue absorbed the gap.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00000" y="4100000"/>
            <a:ext cx="42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714"/>
                </a:solidFill>
                <a:latin typeface="DM Sans"/>
              </a:rPr>
              <a:t>③  Replay flushed on reconnect — no manual intervention.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6100000"/>
            <a:ext cx="10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6B22"/>
                </a:solidFill>
                <a:latin typeface="DM Sans"/>
              </a:rPr>
              <a:t>Real incident, captured.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0" y="650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D8CFBE"/>
                </a:solidFill>
                <a:latin typeface="DM Sans"/>
              </a:rPr>
              <a:t>09 · Reception Workflow · 12/15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00000" y="2200000"/>
            <a:ext cx="970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E1411"/>
                </a:solidFill>
                <a:latin typeface="Playfair Display"/>
              </a:rPr>
              <a:t>Reception didn't have to learn it. They already knew it.</a:t>
            </a:r>
          </a:p>
        </p:txBody>
      </p:sp>
      <p:pic>
        <p:nvPicPr>
          <p:cNvPr id="3" name="Picture 2" descr="gold-deco-hair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6000" y="3800000"/>
            <a:ext cx="400000" cy="2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00000" y="4100000"/>
            <a:ext cx="91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A1714"/>
                </a:solidFill>
                <a:latin typeface="DM Sans"/>
              </a:rPr>
              <a:t>The shape of the workflow matches the shape of the job.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0" y="650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D8CFBE"/>
                </a:solidFill>
                <a:latin typeface="DM Sans"/>
              </a:rPr>
              <a:t>09 · Reception Workflow · 13/15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1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kente-texture-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00000" y="2800000"/>
            <a:ext cx="8900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>
                <a:solidFill>
                  <a:srgbClr val="F6F1E7"/>
                </a:solidFill>
                <a:latin typeface="Playfair Display"/>
              </a:rPr>
              <a:t>The best workflow is the one the user doesn't have to think about.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0000" y="80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0E1411"/>
                </a:solidFill>
                <a:latin typeface="Playfair Display"/>
              </a:rP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0000" y="2000000"/>
            <a:ext cx="5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8B6B22"/>
                </a:solidFill>
                <a:latin typeface="DM Sans"/>
              </a:rPr>
              <a:t>Live URLs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0000" y="2500000"/>
            <a:ext cx="5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714"/>
                </a:solidFill>
                <a:latin typeface="DM Sans"/>
              </a:rPr>
              <a:t>ohcs-smartgate.pages.dev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0" y="2000000"/>
            <a:ext cx="5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8B6B22"/>
                </a:solidFill>
                <a:latin typeface="DM Sans"/>
              </a:rPr>
              <a:t>Related decks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0" y="2500000"/>
            <a:ext cx="5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714"/>
                </a:solidFill>
                <a:latin typeface="DM Sans"/>
              </a:rPr>
              <a:t>Deck 02 · SmartGate Spotlight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0" y="2900000"/>
            <a:ext cx="5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714"/>
                </a:solidFill>
                <a:latin typeface="DM Sans"/>
              </a:rPr>
              <a:t>Deck 05 · Offline-First Resilience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0000" y="6300000"/>
            <a:ext cx="10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B6B22"/>
                </a:solidFill>
                <a:latin typeface="DM Sans"/>
              </a:rPr>
              <a:t>Built on Cloudflare's edge · Designed in the Kente Executive language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0000" y="650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D8CFBE"/>
                </a:solidFill>
                <a:latin typeface="DM Sans"/>
              </a:rPr>
              <a:t>09 · Reception Workflow · 15/15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