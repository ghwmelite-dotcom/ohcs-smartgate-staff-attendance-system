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</p:sldIdLst>
  <p:sldSz cx="12192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1E7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kente-strip-staff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100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800000" y="600000"/>
            <a:ext cx="1500000" cy="3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8B6B22"/>
                </a:solidFill>
                <a:latin typeface="DM Sans"/>
              </a:rPr>
              <a:t>STAFF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00000" y="2200000"/>
            <a:ext cx="10500000" cy="1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6000" b="1">
                <a:solidFill>
                  <a:srgbClr val="0E1411"/>
                </a:solidFill>
                <a:latin typeface="Playfair Display"/>
              </a:rPr>
              <a:t>Staff Attendance</a:t>
            </a:r>
          </a:p>
        </p:txBody>
      </p:sp>
      <p:pic>
        <p:nvPicPr>
          <p:cNvPr id="5" name="Picture 4" descr="gold-deco-hairlin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896000" y="3900000"/>
            <a:ext cx="400000" cy="2000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800000" y="4100000"/>
            <a:ext cx="10500000" cy="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0">
                <a:solidFill>
                  <a:srgbClr val="1A1714"/>
                </a:solidFill>
                <a:latin typeface="DM Sans"/>
              </a:rPr>
              <a:t>Clocking in, honestly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00000" y="6200000"/>
            <a:ext cx="4000000" cy="3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8B6B22"/>
                </a:solidFill>
                <a:latin typeface="DM Sans"/>
              </a:rPr>
              <a:t>For: Executive Leadership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000000" y="6200000"/>
            <a:ext cx="4000000" cy="3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D8CFBE"/>
                </a:solidFill>
                <a:latin typeface="DM Sans"/>
              </a:rPr>
              <a:t>v0 · 2026-05-28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1411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kente-texture-overla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600000" y="2800000"/>
            <a:ext cx="8900000" cy="20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400" b="0">
                <a:solidFill>
                  <a:srgbClr val="F6F1E7"/>
                </a:solidFill>
                <a:latin typeface="Playfair Display"/>
              </a:rPr>
              <a:t>A paper sheet records that you were here. Staff Attendance records that you arrived.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1E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00000" y="800000"/>
            <a:ext cx="10000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400" b="1">
                <a:solidFill>
                  <a:srgbClr val="0E1411"/>
                </a:solidFill>
                <a:latin typeface="Playfair Display"/>
              </a:rPr>
              <a:t>What you'll see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000000" y="6500000"/>
            <a:ext cx="4000000" cy="3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D8CFBE"/>
                </a:solidFill>
                <a:latin typeface="DM Sans"/>
              </a:rPr>
              <a:t>STAFF · Staff Attendance · 03/15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1E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200000" y="2200000"/>
            <a:ext cx="9700000" cy="1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400" b="1">
                <a:solidFill>
                  <a:srgbClr val="0E1411"/>
                </a:solidFill>
                <a:latin typeface="Playfair Display"/>
              </a:rPr>
              <a:t>First login is a moment, not a friction point.</a:t>
            </a:r>
          </a:p>
        </p:txBody>
      </p:sp>
      <p:pic>
        <p:nvPicPr>
          <p:cNvPr id="3" name="Picture 2" descr="gold-deco-hairlin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96000" y="3800000"/>
            <a:ext cx="400000" cy="200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500000" y="4100000"/>
            <a:ext cx="9100000" cy="12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0">
                <a:solidFill>
                  <a:srgbClr val="1A1714"/>
                </a:solidFill>
                <a:latin typeface="DM Sans"/>
              </a:rPr>
              <a:t>Enforced PIN change with clear language, gentle motion, no jargon.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000000" y="6500000"/>
            <a:ext cx="4000000" cy="3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D8CFBE"/>
                </a:solidFill>
                <a:latin typeface="DM Sans"/>
              </a:rPr>
              <a:t>STAFF · Staff Attendance · 04/15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1E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200000" y="2200000"/>
            <a:ext cx="9700000" cy="1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400" b="1">
                <a:solidFill>
                  <a:srgbClr val="0E1411"/>
                </a:solidFill>
                <a:latin typeface="Playfair Display"/>
              </a:rPr>
              <a:t>The 75-metre circle isn't a circle.</a:t>
            </a:r>
          </a:p>
        </p:txBody>
      </p:sp>
      <p:pic>
        <p:nvPicPr>
          <p:cNvPr id="3" name="Picture 2" descr="gold-deco-hairlin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96000" y="3800000"/>
            <a:ext cx="400000" cy="200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500000" y="4100000"/>
            <a:ext cx="9100000" cy="12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0">
                <a:solidFill>
                  <a:srgbClr val="1A1714"/>
                </a:solidFill>
                <a:latin typeface="DM Sans"/>
              </a:rPr>
              <a:t>It's a circle plus your phone's reported GPS accuracy.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000000" y="6500000"/>
            <a:ext cx="4000000" cy="3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D8CFBE"/>
                </a:solidFill>
                <a:latin typeface="DM Sans"/>
              </a:rPr>
              <a:t>STAFF · Staff Attendance · 05/15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1E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00000" y="500000"/>
            <a:ext cx="10500000" cy="7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>
                <a:solidFill>
                  <a:srgbClr val="0E1411"/>
                </a:solidFill>
                <a:latin typeface="DM Sans"/>
              </a:rPr>
              <a:t>Clock-in, GPS clean</a:t>
            </a:r>
          </a:p>
        </p:txBody>
      </p:sp>
      <p:sp>
        <p:nvSpPr>
          <p:cNvPr id="3" name="Rectangle 2"/>
          <p:cNvSpPr/>
          <p:nvPr/>
        </p:nvSpPr>
        <p:spPr>
          <a:xfrm>
            <a:off x="800000" y="1500000"/>
            <a:ext cx="5800000" cy="4500000"/>
          </a:xfrm>
          <a:prstGeom prst="rect">
            <a:avLst/>
          </a:prstGeom>
          <a:solidFill>
            <a:srgbClr val="FBF7EF"/>
          </a:solidFill>
          <a:ln>
            <a:solidFill>
              <a:srgbClr val="D8CFB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100">
                <a:solidFill>
                  <a:srgbClr val="8B6B22"/>
                </a:solidFill>
                <a:latin typeface="DM Sans"/>
              </a:rPr>
              <a:t>[REPLACE: S08-clockin-success.png]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100000" y="1500000"/>
            <a:ext cx="4200000" cy="11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1A1714"/>
                </a:solidFill>
                <a:latin typeface="DM Sans"/>
              </a:rPr>
              <a:t>①  Accuracy ≤15m, inside fence — instant approval.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100000" y="2800000"/>
            <a:ext cx="4200000" cy="11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1A1714"/>
                </a:solidFill>
                <a:latin typeface="DM Sans"/>
              </a:rPr>
              <a:t>②  Camera-verified selfie on capture.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100000" y="4100000"/>
            <a:ext cx="4200000" cy="11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1A1714"/>
                </a:solidFill>
                <a:latin typeface="DM Sans"/>
              </a:rPr>
              <a:t>③  Streak counter ticks.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00000" y="6100000"/>
            <a:ext cx="10500000" cy="3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8B6B22"/>
                </a:solidFill>
                <a:latin typeface="DM Sans"/>
              </a:rPr>
              <a:t>Typical clock-in, captured live.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000000" y="6500000"/>
            <a:ext cx="4000000" cy="3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D8CFBE"/>
                </a:solidFill>
                <a:latin typeface="DM Sans"/>
              </a:rPr>
              <a:t>STAFF · Staff Attendance · 06/15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1E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00000" y="500000"/>
            <a:ext cx="10500000" cy="7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>
                <a:solidFill>
                  <a:srgbClr val="0E1411"/>
                </a:solidFill>
                <a:latin typeface="DM Sans"/>
              </a:rPr>
              <a:t>Clock-in rejected, clearly</a:t>
            </a:r>
          </a:p>
        </p:txBody>
      </p:sp>
      <p:sp>
        <p:nvSpPr>
          <p:cNvPr id="3" name="Rectangle 2"/>
          <p:cNvSpPr/>
          <p:nvPr/>
        </p:nvSpPr>
        <p:spPr>
          <a:xfrm>
            <a:off x="800000" y="1500000"/>
            <a:ext cx="5800000" cy="4500000"/>
          </a:xfrm>
          <a:prstGeom prst="rect">
            <a:avLst/>
          </a:prstGeom>
          <a:solidFill>
            <a:srgbClr val="FBF7EF"/>
          </a:solidFill>
          <a:ln>
            <a:solidFill>
              <a:srgbClr val="D8CFB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100">
                <a:solidFill>
                  <a:srgbClr val="8B6B22"/>
                </a:solidFill>
                <a:latin typeface="DM Sans"/>
              </a:rPr>
              <a:t>[REPLACE: S10-clockin-rejected.png]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100000" y="1500000"/>
            <a:ext cx="4200000" cy="11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1A1714"/>
                </a:solidFill>
                <a:latin typeface="DM Sans"/>
              </a:rPr>
              <a:t>①  200m+ outside — clear distance shown.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100000" y="2800000"/>
            <a:ext cx="4200000" cy="11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1A1714"/>
                </a:solidFill>
                <a:latin typeface="DM Sans"/>
              </a:rPr>
              <a:t>②  GPS accuracy shown alongside.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100000" y="4100000"/>
            <a:ext cx="4200000" cy="11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1A1714"/>
                </a:solidFill>
                <a:latin typeface="DM Sans"/>
              </a:rPr>
              <a:t>③  User knows exactly why and where.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00000" y="6100000"/>
            <a:ext cx="10500000" cy="3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8B6B22"/>
                </a:solidFill>
                <a:latin typeface="DM Sans"/>
              </a:rPr>
              <a:t>Honest rejection, captured.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000000" y="6500000"/>
            <a:ext cx="4000000" cy="3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D8CFBE"/>
                </a:solidFill>
                <a:latin typeface="DM Sans"/>
              </a:rPr>
              <a:t>STAFF · Staff Attendance · 07/15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1411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kente-texture-overla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800000" y="1500000"/>
            <a:ext cx="10500000" cy="3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0" b="1">
                <a:solidFill>
                  <a:srgbClr val="C9A14A"/>
                </a:solidFill>
                <a:latin typeface="Playfair Display"/>
              </a:rPr>
              <a:t>&lt;N04&gt;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00000" y="5300000"/>
            <a:ext cx="10500000" cy="7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0">
                <a:solidFill>
                  <a:srgbClr val="F6F1E7"/>
                </a:solidFill>
                <a:latin typeface="DM Sans"/>
              </a:rPr>
              <a:t>First-try success rate inside the geofence.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000000" y="6500000"/>
            <a:ext cx="4000000" cy="3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D8CFBE"/>
                </a:solidFill>
                <a:latin typeface="DM Sans"/>
              </a:rPr>
              <a:t>STAFF · Staff Attendance · 08/15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1E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200000" y="2200000"/>
            <a:ext cx="9700000" cy="1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400" b="1">
                <a:solidFill>
                  <a:srgbClr val="0E1411"/>
                </a:solidFill>
                <a:latin typeface="Playfair Display"/>
              </a:rPr>
              <a:t>Streaks turn habit into recognition.</a:t>
            </a:r>
          </a:p>
        </p:txBody>
      </p:sp>
      <p:pic>
        <p:nvPicPr>
          <p:cNvPr id="3" name="Picture 2" descr="gold-deco-hairlin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96000" y="3800000"/>
            <a:ext cx="400000" cy="200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500000" y="4100000"/>
            <a:ext cx="9100000" cy="12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0">
                <a:solidFill>
                  <a:srgbClr val="1A1714"/>
                </a:solidFill>
                <a:latin typeface="DM Sans"/>
              </a:rPr>
              <a:t>Consecutive working-day counter. "Best-ever" stays remembered.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000000" y="6500000"/>
            <a:ext cx="4000000" cy="3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D8CFBE"/>
                </a:solidFill>
                <a:latin typeface="DM Sans"/>
              </a:rPr>
              <a:t>STAFF · Staff Attendance · 09/15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1E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00000" y="500000"/>
            <a:ext cx="10500000" cy="7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>
                <a:solidFill>
                  <a:srgbClr val="0E1411"/>
                </a:solidFill>
                <a:latin typeface="DM Sans"/>
              </a:rPr>
              <a:t>Streak banner</a:t>
            </a:r>
          </a:p>
        </p:txBody>
      </p:sp>
      <p:sp>
        <p:nvSpPr>
          <p:cNvPr id="3" name="Rectangle 2"/>
          <p:cNvSpPr/>
          <p:nvPr/>
        </p:nvSpPr>
        <p:spPr>
          <a:xfrm>
            <a:off x="800000" y="1500000"/>
            <a:ext cx="5800000" cy="4500000"/>
          </a:xfrm>
          <a:prstGeom prst="rect">
            <a:avLst/>
          </a:prstGeom>
          <a:solidFill>
            <a:srgbClr val="FBF7EF"/>
          </a:solidFill>
          <a:ln>
            <a:solidFill>
              <a:srgbClr val="D8CFB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100">
                <a:solidFill>
                  <a:srgbClr val="8B6B22"/>
                </a:solidFill>
                <a:latin typeface="DM Sans"/>
              </a:rPr>
              <a:t>[REPLACE: S12-streak-banner.png]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100000" y="1500000"/>
            <a:ext cx="4200000" cy="11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1A1714"/>
                </a:solidFill>
                <a:latin typeface="DM Sans"/>
              </a:rPr>
              <a:t>①  Yesterday counts. Today builds. Tomorrow continues.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100000" y="2800000"/>
            <a:ext cx="4200000" cy="11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1A1714"/>
                </a:solidFill>
                <a:latin typeface="DM Sans"/>
              </a:rPr>
              <a:t>②  Best-ever displayed alongside current.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100000" y="4100000"/>
            <a:ext cx="4200000" cy="11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1A1714"/>
                </a:solidFill>
                <a:latin typeface="DM Sans"/>
              </a:rPr>
              <a:t>③  Quietly celebratory, not gamified-to-death.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00000" y="6100000"/>
            <a:ext cx="10500000" cy="3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8B6B22"/>
                </a:solidFill>
                <a:latin typeface="DM Sans"/>
              </a:rPr>
              <a:t>Clock page hero — streak module.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000000" y="6500000"/>
            <a:ext cx="4000000" cy="3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D8CFBE"/>
                </a:solidFill>
                <a:latin typeface="DM Sans"/>
              </a:rPr>
              <a:t>STAFF · Staff Attendance · 10/15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1E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200000" y="2200000"/>
            <a:ext cx="9700000" cy="1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400" b="1">
                <a:solidFill>
                  <a:srgbClr val="0E1411"/>
                </a:solidFill>
                <a:latin typeface="Playfair Display"/>
              </a:rPr>
              <a:t>Absence is a flow, not a phone call.</a:t>
            </a:r>
          </a:p>
        </p:txBody>
      </p:sp>
      <p:pic>
        <p:nvPicPr>
          <p:cNvPr id="3" name="Picture 2" descr="gold-deco-hairlin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96000" y="3800000"/>
            <a:ext cx="400000" cy="200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500000" y="4100000"/>
            <a:ext cx="9100000" cy="12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0">
                <a:solidFill>
                  <a:srgbClr val="1A1714"/>
                </a:solidFill>
                <a:latin typeface="DM Sans"/>
              </a:rPr>
              <a:t>Sick, family emergency, transport, other. Optional note. Optional return date.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000000" y="6500000"/>
            <a:ext cx="4000000" cy="3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D8CFBE"/>
                </a:solidFill>
                <a:latin typeface="DM Sans"/>
              </a:rPr>
              <a:t>STAFF · Staff Attendance · 11/15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1E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200000" y="2200000"/>
            <a:ext cx="9700000" cy="1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400" b="1">
                <a:solidFill>
                  <a:srgbClr val="0E1411"/>
                </a:solidFill>
                <a:latin typeface="Playfair Display"/>
              </a:rPr>
              <a:t>Leadership reads the summary, not the spreadsheet.</a:t>
            </a:r>
          </a:p>
        </p:txBody>
      </p:sp>
      <p:pic>
        <p:nvPicPr>
          <p:cNvPr id="3" name="Picture 2" descr="gold-deco-hairlin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96000" y="3800000"/>
            <a:ext cx="400000" cy="200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500000" y="4100000"/>
            <a:ext cx="9100000" cy="12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0">
                <a:solidFill>
                  <a:srgbClr val="1A1714"/>
                </a:solidFill>
                <a:latin typeface="DM Sans"/>
              </a:rPr>
              <a:t>Telegram message at 9:00 AM weekdays. Per-directorate breakdown. One screen.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000000" y="6500000"/>
            <a:ext cx="4000000" cy="3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D8CFBE"/>
                </a:solidFill>
                <a:latin typeface="DM Sans"/>
              </a:rPr>
              <a:t>STAFF · Staff Attendance · 12/15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1E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200000" y="2200000"/>
            <a:ext cx="9700000" cy="1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400" b="1">
                <a:solidFill>
                  <a:srgbClr val="0E1411"/>
                </a:solidFill>
                <a:latin typeface="Playfair Display"/>
              </a:rPr>
              <a:t>One staff voice on what's changed.</a:t>
            </a:r>
          </a:p>
        </p:txBody>
      </p:sp>
      <p:pic>
        <p:nvPicPr>
          <p:cNvPr id="3" name="Picture 2" descr="gold-deco-hairlin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96000" y="3800000"/>
            <a:ext cx="400000" cy="200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500000" y="4100000"/>
            <a:ext cx="9100000" cy="12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0">
                <a:solidFill>
                  <a:srgbClr val="1A1714"/>
                </a:solidFill>
                <a:latin typeface="DM Sans"/>
              </a:rPr>
              <a:t>"&lt;Q05&gt;"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000000" y="6500000"/>
            <a:ext cx="4000000" cy="3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D8CFBE"/>
                </a:solidFill>
                <a:latin typeface="DM Sans"/>
              </a:rPr>
              <a:t>STAFF · Staff Attendance · 13/15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1411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kente-texture-overla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600000" y="2800000"/>
            <a:ext cx="8900000" cy="20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400" b="0">
                <a:solidFill>
                  <a:srgbClr val="F6F1E7"/>
                </a:solidFill>
                <a:latin typeface="Playfair Display"/>
              </a:rPr>
              <a:t>Attendance is dignity. SmartGate treats it that way.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1E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00000" y="800000"/>
            <a:ext cx="10000000" cy="7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400" b="1">
                <a:solidFill>
                  <a:srgbClr val="0E1411"/>
                </a:solidFill>
                <a:latin typeface="Playfair Display"/>
              </a:rPr>
              <a:t>Appendix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00000" y="2000000"/>
            <a:ext cx="5000000" cy="4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8B6B22"/>
                </a:solidFill>
                <a:latin typeface="DM Sans"/>
              </a:rPr>
              <a:t>Live URLs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00000" y="2500000"/>
            <a:ext cx="5000000" cy="4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1A1714"/>
                </a:solidFill>
                <a:latin typeface="DM Sans"/>
              </a:rPr>
              <a:t>staff-attendance.pages.dev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000000" y="2000000"/>
            <a:ext cx="5000000" cy="4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8B6B22"/>
                </a:solidFill>
                <a:latin typeface="DM Sans"/>
              </a:rPr>
              <a:t>Related decks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000000" y="2500000"/>
            <a:ext cx="5000000" cy="4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1A1714"/>
                </a:solidFill>
                <a:latin typeface="DM Sans"/>
              </a:rPr>
              <a:t>Companion deck — SmartGate: Visitor Management in Production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00000" y="6300000"/>
            <a:ext cx="10000000" cy="4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>
                <a:solidFill>
                  <a:srgbClr val="8B6B22"/>
                </a:solidFill>
                <a:latin typeface="DM Sans"/>
              </a:rPr>
              <a:t>Built on Cloudflare's edge · Designed in the Kente Executive language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000000" y="6500000"/>
            <a:ext cx="4000000" cy="3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D8CFBE"/>
                </a:solidFill>
                <a:latin typeface="DM Sans"/>
              </a:rPr>
              <a:t>STAFF · Staff Attendance · 15/15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