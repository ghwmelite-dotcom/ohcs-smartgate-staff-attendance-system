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ente-strip-t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10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0000" y="600000"/>
            <a:ext cx="1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8B6B22"/>
                </a:solidFill>
                <a:latin typeface="DM Sans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000" y="2200000"/>
            <a:ext cx="105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>
                <a:solidFill>
                  <a:srgbClr val="0E1411"/>
                </a:solidFill>
                <a:latin typeface="Playfair Display"/>
              </a:rPr>
              <a:t>The Staff Experience</a:t>
            </a:r>
          </a:p>
        </p:txBody>
      </p:sp>
      <p:pic>
        <p:nvPicPr>
          <p:cNvPr id="5" name="Picture 4" descr="gold-deco-hair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6000" y="3900000"/>
            <a:ext cx="400000" cy="2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0000" y="410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1A1714"/>
                </a:solidFill>
                <a:latin typeface="DM Sans"/>
              </a:rPr>
              <a:t>One officer's morning, frame by frame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000" y="62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6B22"/>
                </a:solidFill>
                <a:latin typeface="DM Sans"/>
              </a:rPr>
              <a:t>For: Executive Leadership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0" y="62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v0 · 2026-05-28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ente-texture-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00000" y="2800000"/>
            <a:ext cx="8900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0">
                <a:solidFill>
                  <a:srgbClr val="F6F1E7"/>
                </a:solidFill>
                <a:latin typeface="Playfair Display"/>
              </a:rPr>
              <a:t>A great clock-in is one you stop thinking about. Ours got out of the way.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0000" y="800000"/>
            <a:ext cx="100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0E1411"/>
                </a:solidFill>
                <a:latin typeface="Playfair Display"/>
              </a:rPr>
              <a:t>What you'll see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10 · The Staff Experience · 03/15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0000" y="2200000"/>
            <a:ext cx="97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E1411"/>
                </a:solidFill>
                <a:latin typeface="Playfair Display"/>
              </a:rPr>
              <a:t>First login is a moment, not a friction point.</a:t>
            </a:r>
          </a:p>
        </p:txBody>
      </p:sp>
      <p:pic>
        <p:nvPicPr>
          <p:cNvPr id="3" name="Picture 2" descr="gold-deco-hair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6000" y="3800000"/>
            <a:ext cx="400000" cy="2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00000" y="4100000"/>
            <a:ext cx="91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A1714"/>
                </a:solidFill>
                <a:latin typeface="DM Sans"/>
              </a:rPr>
              <a:t>Enforced PIN change with clear language and no jargon.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10 · The Staff Experience · 04/15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000" y="500000"/>
            <a:ext cx="105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E1411"/>
                </a:solidFill>
                <a:latin typeface="DM Sans"/>
              </a:rPr>
              <a:t>Enforced PIN change, first login</a:t>
            </a:r>
          </a:p>
        </p:txBody>
      </p:sp>
      <p:sp>
        <p:nvSpPr>
          <p:cNvPr id="3" name="Rectangle 2"/>
          <p:cNvSpPr/>
          <p:nvPr/>
        </p:nvSpPr>
        <p:spPr>
          <a:xfrm>
            <a:off x="800000" y="1500000"/>
            <a:ext cx="5800000" cy="4500000"/>
          </a:xfrm>
          <a:prstGeom prst="rect">
            <a:avLst/>
          </a:prstGeom>
          <a:solidFill>
            <a:srgbClr val="FBF7EF"/>
          </a:solidFill>
          <a:ln>
            <a:solidFill>
              <a:srgbClr val="D8C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8B6B22"/>
                </a:solidFill>
                <a:latin typeface="DM Sans"/>
              </a:rPr>
              <a:t>[REPLACE: S11-first-login-pin.png]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00000" y="15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①  Triggered automatically on default PIN.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00000" y="28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②  Validates length + variety.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00000" y="41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③  Confirmation field reduces silent re-entry.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000" y="6100000"/>
            <a:ext cx="10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6B22"/>
                </a:solidFill>
                <a:latin typeface="DM Sans"/>
              </a:rPr>
              <a:t>First login, fresh account.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10 · The Staff Experience · 05/15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0000" y="2200000"/>
            <a:ext cx="97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E1411"/>
                </a:solidFill>
                <a:latin typeface="Playfair Display"/>
              </a:rPr>
              <a:t>The clock-in takes four seconds.</a:t>
            </a:r>
          </a:p>
        </p:txBody>
      </p:sp>
      <p:pic>
        <p:nvPicPr>
          <p:cNvPr id="3" name="Picture 2" descr="gold-deco-hair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6000" y="3800000"/>
            <a:ext cx="400000" cy="2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00000" y="4100000"/>
            <a:ext cx="91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A1714"/>
                </a:solidFill>
                <a:latin typeface="DM Sans"/>
              </a:rPr>
              <a:t>Tap. Camera opens. GPS confirms. Done.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10 · The Staff Experience · 06/15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000" y="500000"/>
            <a:ext cx="105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E1411"/>
                </a:solidFill>
                <a:latin typeface="DM Sans"/>
              </a:rPr>
              <a:t>A successful clock-in</a:t>
            </a:r>
          </a:p>
        </p:txBody>
      </p:sp>
      <p:sp>
        <p:nvSpPr>
          <p:cNvPr id="3" name="Rectangle 2"/>
          <p:cNvSpPr/>
          <p:nvPr/>
        </p:nvSpPr>
        <p:spPr>
          <a:xfrm>
            <a:off x="800000" y="1500000"/>
            <a:ext cx="5800000" cy="4500000"/>
          </a:xfrm>
          <a:prstGeom prst="rect">
            <a:avLst/>
          </a:prstGeom>
          <a:solidFill>
            <a:srgbClr val="FBF7EF"/>
          </a:solidFill>
          <a:ln>
            <a:solidFill>
              <a:srgbClr val="D8C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8B6B22"/>
                </a:solidFill>
                <a:latin typeface="DM Sans"/>
              </a:rPr>
              <a:t>[REPLACE: S25-clock-page-hero.png]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00000" y="15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①  Magnetic-hover buttons feel intentional.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00000" y="28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②  Streak counter ticks immediately.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00000" y="41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③  Confetti — quietly celebratory.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000" y="6100000"/>
            <a:ext cx="10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6B22"/>
                </a:solidFill>
                <a:latin typeface="DM Sans"/>
              </a:rPr>
              <a:t>Clock page, in motion.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10 · The Staff Experience · 07/15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000" y="500000"/>
            <a:ext cx="105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E1411"/>
                </a:solidFill>
                <a:latin typeface="DM Sans"/>
              </a:rPr>
              <a:t>Streak banner — the quiet recognition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800000" y="1500000"/>
            <a:ext cx="5800000" cy="4500000"/>
          </a:xfrm>
          <a:prstGeom prst="rect">
            <a:avLst/>
          </a:prstGeom>
          <a:solidFill>
            <a:srgbClr val="FBF7EF"/>
          </a:solidFill>
          <a:ln>
            <a:solidFill>
              <a:srgbClr val="D8C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8B6B22"/>
                </a:solidFill>
                <a:latin typeface="DM Sans"/>
              </a:rPr>
              <a:t>[REPLACE: S12-streak-banner.png]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00000" y="15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①  Yesterday counts. Today builds. Tomorrow continues.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00000" y="28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②  Best-ever stays remembered.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00000" y="41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③  Recognition, not gamification.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000" y="6100000"/>
            <a:ext cx="10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6B22"/>
                </a:solidFill>
                <a:latin typeface="DM Sans"/>
              </a:rPr>
              <a:t>Clock page hero — streak module.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10 · The Staff Experience · 08/15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ente-texture-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0000" y="1500000"/>
            <a:ext cx="10500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0" b="1">
                <a:solidFill>
                  <a:srgbClr val="C9A14A"/>
                </a:solidFill>
                <a:latin typeface="Playfair Display"/>
              </a:rPr>
              <a:t>&lt;N03&gt;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000" y="5300000"/>
            <a:ext cx="105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F6F1E7"/>
                </a:solidFill>
                <a:latin typeface="DM Sans"/>
              </a:rPr>
              <a:t>Clock-ins recorded. Each one a quiet morning's start.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10 · The Staff Experience · 09/15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0000" y="2200000"/>
            <a:ext cx="97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E1411"/>
                </a:solidFill>
                <a:latin typeface="Playfair Display"/>
              </a:rPr>
              <a:t>Absence is a flow, not a phone call.</a:t>
            </a:r>
          </a:p>
        </p:txBody>
      </p:sp>
      <p:pic>
        <p:nvPicPr>
          <p:cNvPr id="3" name="Picture 2" descr="gold-deco-hair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6000" y="3800000"/>
            <a:ext cx="400000" cy="2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00000" y="4100000"/>
            <a:ext cx="91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A1714"/>
                </a:solidFill>
                <a:latin typeface="DM Sans"/>
              </a:rPr>
              <a:t>Sick, family emergency, transport, other. Optional note. Optional return.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10 · The Staff Experience · 10/15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000" y="500000"/>
            <a:ext cx="105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E1411"/>
                </a:solidFill>
                <a:latin typeface="DM Sans"/>
              </a:rPr>
              <a:t>Absence notice modal</a:t>
            </a:r>
          </a:p>
        </p:txBody>
      </p:sp>
      <p:sp>
        <p:nvSpPr>
          <p:cNvPr id="3" name="Rectangle 2"/>
          <p:cNvSpPr/>
          <p:nvPr/>
        </p:nvSpPr>
        <p:spPr>
          <a:xfrm>
            <a:off x="800000" y="1500000"/>
            <a:ext cx="5800000" cy="4500000"/>
          </a:xfrm>
          <a:prstGeom prst="rect">
            <a:avLst/>
          </a:prstGeom>
          <a:solidFill>
            <a:srgbClr val="FBF7EF"/>
          </a:solidFill>
          <a:ln>
            <a:solidFill>
              <a:srgbClr val="D8C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8B6B22"/>
                </a:solidFill>
                <a:latin typeface="DM Sans"/>
              </a:rPr>
              <a:t>[REPLACE: S13-absence-modal.png]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00000" y="15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①  One self-service flow.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00000" y="28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②  Directors notified immediately.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00000" y="41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③  Morning clock-reminder suppressed automatically.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000" y="6100000"/>
            <a:ext cx="10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6B22"/>
                </a:solidFill>
                <a:latin typeface="DM Sans"/>
              </a:rPr>
              <a:t>Absence modal, in-progress.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10 · The Staff Experience · 11/15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0000" y="2200000"/>
            <a:ext cx="97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E1411"/>
                </a:solidFill>
                <a:latin typeface="Playfair Display"/>
              </a:rPr>
              <a:t>The eBadge — staff identity, in the pocket.</a:t>
            </a:r>
          </a:p>
        </p:txBody>
      </p:sp>
      <p:pic>
        <p:nvPicPr>
          <p:cNvPr id="3" name="Picture 2" descr="gold-deco-hair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6000" y="3800000"/>
            <a:ext cx="400000" cy="2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00000" y="4100000"/>
            <a:ext cx="91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A1714"/>
                </a:solidFill>
                <a:latin typeface="DM Sans"/>
              </a:rPr>
              <a:t>Digital, scannable, refreshable. The paper card retires.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10 · The Staff Experience · 12/15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0000" y="2200000"/>
            <a:ext cx="97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E1411"/>
                </a:solidFill>
                <a:latin typeface="Playfair Display"/>
              </a:rPr>
              <a:t>One staff voice.</a:t>
            </a:r>
          </a:p>
        </p:txBody>
      </p:sp>
      <p:pic>
        <p:nvPicPr>
          <p:cNvPr id="3" name="Picture 2" descr="gold-deco-hair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6000" y="3800000"/>
            <a:ext cx="400000" cy="2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00000" y="4100000"/>
            <a:ext cx="91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A1714"/>
                </a:solidFill>
                <a:latin typeface="DM Sans"/>
              </a:rPr>
              <a:t>"&lt;Q05&gt;"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10 · The Staff Experience · 13/15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ente-texture-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00000" y="2800000"/>
            <a:ext cx="8900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0">
                <a:solidFill>
                  <a:srgbClr val="F6F1E7"/>
                </a:solidFill>
                <a:latin typeface="Playfair Display"/>
              </a:rPr>
              <a:t>Attendance is dignity. The system treats it that way.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0000" y="800000"/>
            <a:ext cx="100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0E1411"/>
                </a:solidFill>
                <a:latin typeface="Playfair Display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" y="2000000"/>
            <a:ext cx="5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6B22"/>
                </a:solidFill>
                <a:latin typeface="DM Sans"/>
              </a:rPr>
              <a:t>Live URLs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0000" y="2500000"/>
            <a:ext cx="5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714"/>
                </a:solidFill>
                <a:latin typeface="DM Sans"/>
              </a:rPr>
              <a:t>staff-attendance.pages.dev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0" y="2000000"/>
            <a:ext cx="5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6B22"/>
                </a:solidFill>
                <a:latin typeface="DM Sans"/>
              </a:rPr>
              <a:t>Related decks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0" y="2500000"/>
            <a:ext cx="5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714"/>
                </a:solidFill>
                <a:latin typeface="DM Sans"/>
              </a:rPr>
              <a:t>Deck 03 · Staff Attendance Spotlight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0" y="2900000"/>
            <a:ext cx="5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714"/>
                </a:solidFill>
                <a:latin typeface="DM Sans"/>
              </a:rPr>
              <a:t>Deck 07 · GPS Geofence Precision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00000" y="3300000"/>
            <a:ext cx="5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714"/>
                </a:solidFill>
                <a:latin typeface="DM Sans"/>
              </a:rPr>
              <a:t>Deck 08 · Kente Executive Design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0000" y="6300000"/>
            <a:ext cx="10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B6B22"/>
                </a:solidFill>
                <a:latin typeface="DM Sans"/>
              </a:rPr>
              <a:t>Built on Cloudflare's edge · Designed in the Kente Executive language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10 · The Staff Experience · 15/15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