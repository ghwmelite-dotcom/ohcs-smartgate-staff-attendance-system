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strip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10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60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B6B22"/>
                </a:solidFill>
                <a:latin typeface="DM Sans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2200000"/>
            <a:ext cx="105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0E1411"/>
                </a:solidFill>
                <a:latin typeface="Playfair Display"/>
              </a:rPr>
              <a:t>Staff Attendance</a:t>
            </a:r>
          </a:p>
        </p:txBody>
      </p:sp>
      <p:pic>
        <p:nvPicPr>
          <p:cNvPr id="5" name="Picture 4" descr="gold-deco-hair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00" y="3900000"/>
            <a:ext cx="400000" cy="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000" y="4100000"/>
            <a:ext cx="10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1A1714"/>
                </a:solidFill>
                <a:latin typeface="DM Sans"/>
              </a:rPr>
              <a:t>Clocking in,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For: Executive Leadership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2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v0 · 2026-05-28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A paper sheet records that you were here. Staff Attendance records that you arrived.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What you'll see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03/20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First login is a moment, not a friction point.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Enforced PIN change with clear language, gentle motion, no jargon.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04/20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Enforced PIN change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S11-first-login-pin.png]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Triggered automatically on default PIN.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Validates length + character variety.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Confirmation reduces silent re-entry.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First login, fresh account.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05/20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The 75-metre circle isn't a circle.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It's a circle plus your phone's reported GPS accuracy.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06/20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Clock-in, GPS clean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S08-clockin-success.png]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Accuracy ≤15m, inside fence — instant 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Camera-verified selfie on capture.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Streak counter ticks.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Typical clock-in, captured live.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07/20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Clock-in, weak GPS at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S09-clockin-weak-gps.png]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Accuracy ~40m at the edge — accepted.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Buffer scales with reported accuracy.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Real users in real buildings get through.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Edge case, validated.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08/20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Clock-in rejected, clearly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S10-clockin-rejected.png]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200m+ outside — clear distance shown.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GPS accuracy shown alongside.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User knows exactly why and 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Honest rejection, captured.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09/20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0" y="1500000"/>
            <a:ext cx="105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>
                <a:solidFill>
                  <a:srgbClr val="C9A14A"/>
                </a:solidFill>
                <a:latin typeface="Playfair Display"/>
              </a:rPr>
              <a:t>&lt;N04&gt;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0000" y="53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F6F1E7"/>
                </a:solidFill>
                <a:latin typeface="DM Sans"/>
              </a:rPr>
              <a:t>First-try success rate inside the geofence.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Streaks turn habit into recognition.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Consecutive working-day counter. "Best-ever" stays remembered.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Streak banner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S12-streak-banner.png]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Yesterday counts. Today builds. Tomorrow continues.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Best-ever displayed alongside current.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Quietly celebratory, not gamified-to-death.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Clock page hero — streak module.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Absence is a flow, not a phone call.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Sick, family emergency, transport, other. Optional note. Optional return date.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Absence notice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S13-absence-modal.png]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One self-service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Directors notified immediately.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Morning clock-reminder suppressed automatically.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Absence modal, in-progress.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Leadership reads the summary, not the spreadsheet.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Telegram message at 9:00 AM weekdays. Per-directorate breakdown. One screen.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000" y="500000"/>
            <a:ext cx="105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E1411"/>
                </a:solidFill>
                <a:latin typeface="DM Sans"/>
              </a:rPr>
              <a:t>9:00 AM daily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00000" y="1500000"/>
            <a:ext cx="5800000" cy="4500000"/>
          </a:xfrm>
          <a:prstGeom prst="rect">
            <a:avLst/>
          </a:prstGeom>
          <a:solidFill>
            <a:srgbClr val="FBF7EF"/>
          </a:solidFill>
          <a:ln>
            <a:solidFill>
              <a:srgbClr val="D8CF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8B6B22"/>
                </a:solidFill>
                <a:latin typeface="DM Sans"/>
              </a:rPr>
              <a:t>[REPLACE: S14-daily-summary.png]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00000" y="15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①  Sent every weekday at 9:00 sharp.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0000" y="28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②  Per-directorate counts of clocked/not-clocked.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00000" y="4100000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714"/>
                </a:solidFill>
                <a:latin typeface="DM Sans"/>
              </a:rPr>
              <a:t>③  Outlier names surfaced — no scrolling.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000" y="6100000"/>
            <a:ext cx="10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6B22"/>
                </a:solidFill>
                <a:latin typeface="DM Sans"/>
              </a:rPr>
              <a:t>Daily summary, captured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One staff voice on what's changed.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"&lt;Q05&gt;"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00000" y="2200000"/>
            <a:ext cx="97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E1411"/>
                </a:solidFill>
                <a:latin typeface="Playfair Display"/>
              </a:rPr>
              <a:t>The eBadge — staff identity, in the pocket.</a:t>
            </a:r>
          </a:p>
        </p:txBody>
      </p:sp>
      <p:pic>
        <p:nvPicPr>
          <p:cNvPr id="3" name="Picture 2" descr="gold-deco-hair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000" y="3800000"/>
            <a:ext cx="400000" cy="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00000" y="4100000"/>
            <a:ext cx="9100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A1714"/>
                </a:solidFill>
                <a:latin typeface="DM Sans"/>
              </a:rPr>
              <a:t>Digital, scannable, refreshable. The paper card retires.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ente-texture-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00000" y="2800000"/>
            <a:ext cx="89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0">
                <a:solidFill>
                  <a:srgbClr val="F6F1E7"/>
                </a:solidFill>
                <a:latin typeface="Playfair Display"/>
              </a:rPr>
              <a:t>Attendance is dignity. SmartGate treats it that way.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0000" y="800000"/>
            <a:ext cx="100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E1411"/>
                </a:solidFill>
                <a:latin typeface="Playfair Display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Live URLs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staff-attendance.pages.dev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0" y="20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8B6B22"/>
                </a:solidFill>
                <a:latin typeface="DM Sans"/>
              </a:rPr>
              <a:t>Related decks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07 · GPS Geofence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0" y="29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10 · The Staff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00000" y="33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714"/>
                </a:solidFill>
                <a:latin typeface="DM Sans"/>
              </a:rPr>
              <a:t>Deck 11 · Director Visibility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0000" y="63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B6B22"/>
                </a:solidFill>
                <a:latin typeface="DM Sans"/>
              </a:rPr>
              <a:t>Built on Cloudflare's edge · Designed in the Kente Executive language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0" y="6500000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D8CFBE"/>
                </a:solidFill>
                <a:latin typeface="DM Sans"/>
              </a:rPr>
              <a:t>03 · Staff Attendance · 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